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 wrap="square" lIns="152400" tIns="91440" rIns="152400" bIns="91440"/>
          <a:lstStyle/>
          <a:p>
            <a:r>
              <a:rPr lang="zh-CN" sz="1600" b="0">
                <a:solidFill>
                  <a:srgbClr val="1F2933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" name="Title"/>
          <p:cNvSpPr/>
          <p:nvPr/>
        </p:nvSpPr>
        <p:spPr>
          <a:xfrm>
            <a:off x="411480" y="228600"/>
            <a:ext cx="7863840" cy="50292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 wrap="square" lIns="152400" tIns="91440" rIns="152400" bIns="91440"/>
          <a:lstStyle/>
          <a:p>
            <a:r>
              <a:rPr lang="zh-CN" sz="2400" b="1">
                <a:solidFill>
                  <a:srgbClr val="1F2933"/>
                </a:solidFill>
                <a:latin typeface="Microsoft YaHei"/>
                <a:ea typeface="Microsoft YaHei"/>
              </a:rPr>
              <a:t>Gated Residual 多模态血糖预测结构</a:t>
            </a:r>
          </a:p>
        </p:txBody>
      </p:sp>
      <p:sp>
        <p:nvSpPr>
          <p:cNvPr id="4" name="Subtitle"/>
          <p:cNvSpPr/>
          <p:nvPr/>
        </p:nvSpPr>
        <p:spPr>
          <a:xfrm>
            <a:off x="438912" y="749808"/>
            <a:ext cx="10881360" cy="310896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0">
                <a:solidFill>
                  <a:srgbClr val="1F2933"/>
                </a:solidFill>
                <a:latin typeface="Microsoft YaHei"/>
                <a:ea typeface="Microsoft YaHei"/>
              </a:rPr>
              <a:t>频谱作为主模态；PPG/ICM 辅助模态只学习有界门控残差，用于小幅修正频谱特征。</a:t>
            </a:r>
          </a:p>
        </p:txBody>
      </p:sp>
      <p:sp>
        <p:nvSpPr>
          <p:cNvPr id="5" name="Spectrum Input"/>
          <p:cNvSpPr/>
          <p:nvPr/>
        </p:nvSpPr>
        <p:spPr>
          <a:xfrm>
            <a:off x="594360" y="1828800"/>
            <a:ext cx="1874519" cy="777240"/>
          </a:xfrm>
          <a:prstGeom prst="roundRect">
            <a:avLst/>
          </a:prstGeom>
          <a:solidFill>
            <a:srgbClr val="D9ECF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Spectrum 输入</a:t>
            </a:r>
          </a:p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频谱窗口 / 单点频谱</a:t>
            </a:r>
          </a:p>
        </p:txBody>
      </p:sp>
      <p:sp>
        <p:nvSpPr>
          <p:cNvPr id="6" name="Spectrum Encoder"/>
          <p:cNvSpPr/>
          <p:nvPr/>
        </p:nvSpPr>
        <p:spPr>
          <a:xfrm>
            <a:off x="2971800" y="1828800"/>
            <a:ext cx="2148840" cy="7772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频谱特征编码器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base_model.extract_features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z_s ∈ R^d</a:t>
            </a:r>
          </a:p>
        </p:txBody>
      </p:sp>
      <p:sp>
        <p:nvSpPr>
          <p:cNvPr id="7" name="Aux Input"/>
          <p:cNvSpPr/>
          <p:nvPr/>
        </p:nvSpPr>
        <p:spPr>
          <a:xfrm>
            <a:off x="594360" y="3977639"/>
            <a:ext cx="1874519" cy="777240"/>
          </a:xfrm>
          <a:prstGeom prst="roundRect">
            <a:avLst/>
          </a:prstGeom>
          <a:solidFill>
            <a:srgbClr val="DFF6EC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PPG / ICM 输入</a:t>
            </a:r>
          </a:p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动态状态 / 运动质量特征</a:t>
            </a:r>
          </a:p>
        </p:txBody>
      </p:sp>
      <p:sp>
        <p:nvSpPr>
          <p:cNvPr id="8" name="Aux Encoder"/>
          <p:cNvSpPr/>
          <p:nvPr/>
        </p:nvSpPr>
        <p:spPr>
          <a:xfrm>
            <a:off x="2971800" y="3977639"/>
            <a:ext cx="2148840" cy="777240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AuxFeatureEncoder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Linear → LN → ReLU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 a ∈ R^k</a:t>
            </a:r>
          </a:p>
        </p:txBody>
      </p:sp>
      <p:sp>
        <p:nvSpPr>
          <p:cNvPr id="9" name="Concat"/>
          <p:cNvSpPr/>
          <p:nvPr/>
        </p:nvSpPr>
        <p:spPr>
          <a:xfrm>
            <a:off x="5715000" y="2560320"/>
            <a:ext cx="1645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条件拼接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u = [z_s ; a]</a:t>
            </a:r>
          </a:p>
        </p:txBody>
      </p:sp>
      <p:sp>
        <p:nvSpPr>
          <p:cNvPr id="10" name="Residual"/>
          <p:cNvSpPr/>
          <p:nvPr/>
        </p:nvSpPr>
        <p:spPr>
          <a:xfrm>
            <a:off x="5623560" y="3886200"/>
            <a:ext cx="1645920" cy="82296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Residual 分支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r = tanh(f_r(u))</a:t>
            </a:r>
          </a:p>
        </p:txBody>
      </p:sp>
      <p:sp>
        <p:nvSpPr>
          <p:cNvPr id="11" name="Gate"/>
          <p:cNvSpPr/>
          <p:nvPr/>
        </p:nvSpPr>
        <p:spPr>
          <a:xfrm>
            <a:off x="7726679" y="3886200"/>
            <a:ext cx="1645920" cy="82296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Gate 分支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g = sigmoid(f_g(u))</a:t>
            </a:r>
          </a:p>
        </p:txBody>
      </p:sp>
      <p:sp>
        <p:nvSpPr>
          <p:cNvPr id="12" name="Scale"/>
          <p:cNvSpPr/>
          <p:nvPr/>
        </p:nvSpPr>
        <p:spPr>
          <a:xfrm>
            <a:off x="7772400" y="2240280"/>
            <a:ext cx="1554480" cy="685800"/>
          </a:xfrm>
          <a:prstGeom prst="roundRect">
            <a:avLst/>
          </a:prstGeom>
          <a:solidFill>
            <a:srgbClr val="F3EDF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有界 Scale</a:t>
            </a:r>
          </a:p>
          <a:p>
            <a:r>
              <a:rPr lang="zh-CN" sz="1200" b="1">
                <a:solidFill>
                  <a:srgbClr val="1F2933"/>
                </a:solidFill>
                <a:latin typeface="Microsoft YaHei"/>
                <a:ea typeface="Microsoft YaHei"/>
              </a:rPr>
              <a:t>α ∈ [min, 1]</a:t>
            </a:r>
          </a:p>
        </p:txBody>
      </p:sp>
      <p:sp>
        <p:nvSpPr>
          <p:cNvPr id="13" name="Correction"/>
          <p:cNvSpPr/>
          <p:nvPr/>
        </p:nvSpPr>
        <p:spPr>
          <a:xfrm>
            <a:off x="6263640" y="5349240"/>
            <a:ext cx="2514600" cy="685800"/>
          </a:xfrm>
          <a:prstGeom prst="roundRect">
            <a:avLst/>
          </a:prstGeom>
          <a:solidFill>
            <a:srgbClr val="F0FBF6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400" b="1">
                <a:solidFill>
                  <a:srgbClr val="1F2933"/>
                </a:solidFill>
                <a:latin typeface="Microsoft YaHei"/>
                <a:ea typeface="Microsoft YaHei"/>
              </a:rPr>
              <a:t>z' = z_s + α · g ⊙ r</a:t>
            </a:r>
          </a:p>
        </p:txBody>
      </p:sp>
      <p:sp>
        <p:nvSpPr>
          <p:cNvPr id="14" name="Head"/>
          <p:cNvSpPr/>
          <p:nvPr/>
        </p:nvSpPr>
        <p:spPr>
          <a:xfrm>
            <a:off x="9738360" y="3246120"/>
            <a:ext cx="1325880" cy="960120"/>
          </a:xfrm>
          <a:prstGeom prst="roundRect">
            <a:avLst/>
          </a:prstGeom>
          <a:solidFill>
            <a:srgbClr val="EFE5FF"/>
          </a:solidFill>
          <a:ln w="12700">
            <a:solidFill>
              <a:srgbClr val="D0D7E2"/>
            </a:solidFill>
          </a:ln>
        </p:spPr>
        <p:txBody>
          <a:bodyPr wrap="square" lIns="152400" tIns="91440" rIns="152400" bIns="91440"/>
          <a:lstStyle/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预测头</a:t>
            </a:r>
          </a:p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MLP Head</a:t>
            </a:r>
          </a:p>
          <a:p>
            <a:r>
              <a:rPr lang="zh-CN" sz="1300" b="1">
                <a:solidFill>
                  <a:srgbClr val="1F2933"/>
                </a:solidFill>
                <a:latin typeface="Microsoft YaHei"/>
                <a:ea typeface="Microsoft YaHei"/>
              </a:rPr>
              <a:t>ŷ</a:t>
            </a:r>
          </a:p>
        </p:txBody>
      </p:sp>
      <p:sp>
        <p:nvSpPr>
          <p:cNvPr id="15" name="LR Note"/>
          <p:cNvSpPr/>
          <p:nvPr/>
        </p:nvSpPr>
        <p:spPr>
          <a:xfrm>
            <a:off x="822960" y="6263640"/>
            <a:ext cx="103327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</a:ln>
        </p:spPr>
        <p:txBody>
          <a:bodyPr wrap="square" lIns="152400" tIns="91440" rIns="152400" bIns="91440"/>
          <a:lstStyle/>
          <a:p>
            <a:r>
              <a:rPr lang="zh-CN" sz="1000" b="0">
                <a:solidFill>
                  <a:srgbClr val="1F2933"/>
                </a:solidFill>
                <a:latin typeface="Microsoft YaHei"/>
                <a:ea typeface="Microsoft YaHei"/>
              </a:rPr>
              <a:t>可选差异学习率：base_model → lr；AuxEncoder / Residual / Gate / Head → fusion_lr；residual_scale → scale_lr。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2468880" y="2221992"/>
            <a:ext cx="502919" cy="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17" name="Arrow 17"/>
          <p:cNvCxnSpPr/>
          <p:nvPr/>
        </p:nvCxnSpPr>
        <p:spPr>
          <a:xfrm>
            <a:off x="2468880" y="4370832"/>
            <a:ext cx="502919" cy="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18" name="Arrow 18"/>
          <p:cNvCxnSpPr/>
          <p:nvPr/>
        </p:nvCxnSpPr>
        <p:spPr>
          <a:xfrm>
            <a:off x="5120640" y="2221992"/>
            <a:ext cx="594360" cy="566927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19" name="Arrow 19"/>
          <p:cNvCxnSpPr/>
          <p:nvPr/>
        </p:nvCxnSpPr>
        <p:spPr>
          <a:xfrm>
            <a:off x="5120640" y="2999232"/>
            <a:ext cx="594360" cy="137160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0" name="Arrow 20"/>
          <p:cNvCxnSpPr/>
          <p:nvPr/>
        </p:nvCxnSpPr>
        <p:spPr>
          <a:xfrm>
            <a:off x="6446520" y="3200400"/>
            <a:ext cx="91440" cy="68580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1" name="Arrow 21"/>
          <p:cNvCxnSpPr/>
          <p:nvPr/>
        </p:nvCxnSpPr>
        <p:spPr>
          <a:xfrm>
            <a:off x="6537960" y="3200400"/>
            <a:ext cx="2011679" cy="68580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2" name="Arrow 22"/>
          <p:cNvCxnSpPr/>
          <p:nvPr/>
        </p:nvCxnSpPr>
        <p:spPr>
          <a:xfrm>
            <a:off x="8549640" y="2926080"/>
            <a:ext cx="0" cy="960119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3" name="Arrow 23"/>
          <p:cNvCxnSpPr/>
          <p:nvPr/>
        </p:nvCxnSpPr>
        <p:spPr>
          <a:xfrm>
            <a:off x="6446520" y="4709160"/>
            <a:ext cx="640080" cy="640079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4" name="Arrow 24"/>
          <p:cNvCxnSpPr/>
          <p:nvPr/>
        </p:nvCxnSpPr>
        <p:spPr>
          <a:xfrm>
            <a:off x="8001000" y="4709160"/>
            <a:ext cx="548639" cy="640079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5" name="Arrow 25"/>
          <p:cNvCxnSpPr/>
          <p:nvPr/>
        </p:nvCxnSpPr>
        <p:spPr>
          <a:xfrm>
            <a:off x="8183879" y="2926080"/>
            <a:ext cx="365760" cy="2423159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6" name="Arrow 26"/>
          <p:cNvCxnSpPr/>
          <p:nvPr/>
        </p:nvCxnSpPr>
        <p:spPr>
          <a:xfrm>
            <a:off x="5120640" y="2221992"/>
            <a:ext cx="1143000" cy="3447288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  <p:cxnSp>
        <p:nvCxnSpPr>
          <p:cNvPr id="27" name="Arrow 27"/>
          <p:cNvCxnSpPr/>
          <p:nvPr/>
        </p:nvCxnSpPr>
        <p:spPr>
          <a:xfrm>
            <a:off x="8778240" y="3749039"/>
            <a:ext cx="960120" cy="1920240"/>
          </a:xfrm>
          <a:prstGeom prst="line">
            <a:avLst/>
          </a:prstGeom>
          <a:ln w="25400">
            <a:solidFill>
              <a:srgbClr val="3F4A56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17202A"/>
      </a:dk1>
      <a:lt1>
        <a:srgbClr val="FFFFFF"/>
      </a:lt1>
      <a:dk2>
        <a:srgbClr val="1F2933"/>
      </a:dk2>
      <a:lt2>
        <a:srgbClr val="F7FAFC"/>
      </a:lt2>
      <a:accent1>
        <a:srgbClr val="7EADE2"/>
      </a:accent1>
      <a:accent2>
        <a:srgbClr val="79C7A5"/>
      </a:accent2>
      <a:accent3>
        <a:srgbClr val="D0B4F2"/>
      </a:accent3>
      <a:accent4>
        <a:srgbClr val="F1D590"/>
      </a:accent4>
      <a:accent5>
        <a:srgbClr val="98A2B3"/>
      </a:accent5>
      <a:accent6>
        <a:srgbClr val="667085"/>
      </a:accent6>
      <a:hlink>
        <a:srgbClr val="2563EB"/>
      </a:hlink>
      <a:folHlink>
        <a:srgbClr val="7C3AED"/>
      </a:folHlink>
    </a:clrScheme>
    <a:fontScheme name="Simpl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